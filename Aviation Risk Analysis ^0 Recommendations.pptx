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6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9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2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2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6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9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2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2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4134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7232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91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91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1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5761B-CDB4-4476-B869-54F9635F55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5BF884-8BCC-4868-A3BD-DA9EEE1CF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1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3A99-6A1C-1089-0978-0D1A881461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Aviation Risk Analysis &amp;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E0838-11CE-C91A-83A7-031E6542F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1 Project</a:t>
            </a:r>
          </a:p>
          <a:p>
            <a:r>
              <a:rPr lang="en-US" dirty="0"/>
              <a:t>DANIEL OWUOR</a:t>
            </a:r>
          </a:p>
        </p:txBody>
      </p:sp>
    </p:spTree>
    <p:extLst>
      <p:ext uri="{BB962C8B-B14F-4D97-AF65-F5344CB8AC3E}">
        <p14:creationId xmlns:p14="http://schemas.microsoft.com/office/powerpoint/2010/main" val="124321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24E7-6D32-4579-2F94-973CC9ED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Beginning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332B49-E053-5413-B05B-7D93C9E868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2422" y="1733832"/>
            <a:ext cx="73769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company is diversifying into commercial and private aviation and requires a deep understanding of operational risks to inform fleet acquisition.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Scope: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 of aviation accident data from 1962 to 2023 to determine safety records of various manufacturers and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Actionable recommendations for stakeholders to acquire a safe and reliable fleet.</a:t>
            </a:r>
          </a:p>
        </p:txBody>
      </p:sp>
    </p:spTree>
    <p:extLst>
      <p:ext uri="{BB962C8B-B14F-4D97-AF65-F5344CB8AC3E}">
        <p14:creationId xmlns:p14="http://schemas.microsoft.com/office/powerpoint/2010/main" val="164552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484B-7148-62D4-3D6B-0810AB2A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E5E5-3F89-DE96-952C-DEA3F6853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123" y="1678675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b="1" dirty="0"/>
              <a:t>The Problem: </a:t>
            </a:r>
            <a:r>
              <a:rPr lang="en-US" sz="2000" dirty="0"/>
              <a:t>The new aviation division has capital for investment but lacks historical data on operational risks. Purchasing without this insight poses significant safety and financial liability.</a:t>
            </a:r>
          </a:p>
          <a:p>
            <a:r>
              <a:rPr lang="en-US" sz="2000" b="1" dirty="0"/>
              <a:t>Key Objectives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Identify the top 3 low-risk aircraft categories and manufacturers.</a:t>
            </a:r>
          </a:p>
          <a:p>
            <a:pPr lvl="1"/>
            <a:r>
              <a:rPr lang="en-US" sz="2000" dirty="0"/>
              <a:t>Determine factors that increase accident severity (e.g., weather, phase of flight).</a:t>
            </a:r>
          </a:p>
          <a:p>
            <a:pPr lvl="1"/>
            <a:r>
              <a:rPr lang="en-US" sz="2000" dirty="0"/>
              <a:t>Provide evidence-based investment recommendations.</a:t>
            </a:r>
          </a:p>
          <a:p>
            <a:r>
              <a:rPr lang="en-US" sz="2000" b="1" dirty="0"/>
              <a:t>Stakeholders: </a:t>
            </a:r>
            <a:r>
              <a:rPr lang="en-US" sz="2000" dirty="0"/>
              <a:t>Head of Aviation Division (Purchasing), Investment Committee (Financial Risk), Operations Team (Reliability).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2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626A-AB36-3CA4-096D-D72B071E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Understanding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7740AB-501F-D22B-77EC-F22C487556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69486"/>
            <a:ext cx="797239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National Transportation Safety Board (NTSB) Aviation Accident Database (1962–2023).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Scope: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Tens of thousands of records covering: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Aircraft: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Make, Model, Category, Engine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Date, Location, Phase of Flight.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Fatalities, Serious Injuries, Aircraft Damage (Hull Loss).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Actions: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for modern relevance (1990–Present).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manufacturer names (e.g., Cessna, Piper).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Imputed missing injury data with zero to ensure accurate severity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5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5ECB-743D-8B12-B8CA-8A90A9B8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Analysis - Risk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B8A8B-774C-EE67-EE1D-497AC58B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Key Risk Indicators:</a:t>
            </a:r>
            <a:endParaRPr lang="en-US" sz="2400" dirty="0"/>
          </a:p>
          <a:p>
            <a:r>
              <a:rPr lang="en-US" sz="2400" b="1" dirty="0"/>
              <a:t>Phase of Flight:</a:t>
            </a:r>
            <a:r>
              <a:rPr lang="en-US" sz="2400" dirty="0"/>
              <a:t> Analysis focuses on "Broad Phase of Flight" to identify high-risk moments such as Takeoff, Landing, and Cruise. </a:t>
            </a:r>
            <a:r>
              <a:rPr lang="en-US" sz="2400" b="1" dirty="0"/>
              <a:t>Weather:</a:t>
            </a:r>
            <a:r>
              <a:rPr lang="en-US" sz="2400" dirty="0"/>
              <a:t> Evaluation of Visual Meteorological Conditions (VMC) vs. Instrument Meteorological Conditions (IMC) to understand environmental impact.</a:t>
            </a:r>
          </a:p>
          <a:p>
            <a:r>
              <a:rPr lang="en-US" sz="2400" b="1" dirty="0"/>
              <a:t>Severity Metrics:</a:t>
            </a:r>
            <a:r>
              <a:rPr lang="en-US" sz="2400" dirty="0"/>
              <a:t> Classification of accidents into "Fatal" vs. "Non-Fatal" and "Hull Loss" (Destroyed) vs. "Repairable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349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CD97-47E8-B776-5723-67BDC050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Manufacturer &amp; Modernization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E52B58-9474-1E9E-8730-CB6EB111E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271" y="1896076"/>
            <a:ext cx="415415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Over Time: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Analysis reveals a steady decrease in accidents year-over-year, correlating with improvements in manufacturing standards and technology.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Manufacturer Volume: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High-volume manufacturers (e.g., Cessna, Piper) appear frequently in accident data due to market ubiquity, requiring normalized risk assessment.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 Technology: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Comparison of Piston vs. Turbine engines shows distinct differences in safety reliability for corporate vs. personal usage.</a:t>
            </a:r>
          </a:p>
        </p:txBody>
      </p:sp>
      <p:pic>
        <p:nvPicPr>
          <p:cNvPr id="6" name="Picture 5" descr="A blue line drawn on a white background">
            <a:extLst>
              <a:ext uri="{FF2B5EF4-FFF2-40B4-BE49-F238E27FC236}">
                <a16:creationId xmlns:a16="http://schemas.microsoft.com/office/drawing/2014/main" id="{5725CF11-A3D9-E4CE-90AB-B905F586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29" y="2409566"/>
            <a:ext cx="5873411" cy="31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0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E762-7D04-97B6-FB11-5C86CB1C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B3A4C8-C474-5885-6522-DF7718A89F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314" y="1270000"/>
            <a:ext cx="484420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Modern Fleets: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acquisition on aircraft manufactured post-2000. Data shows significantly improved safety engineering and reduced liability in newer models.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Commercial-Grade for Corporate Travel: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Bypass light piston aircraft for executive transport. Invest in Turbine-class aircraft (Jet/Turboprop) which demonstrate superior safety protocols and lower accident rates (7.4%). Boeing (Commercial/Turbine) has the lowest fatality rate (~7.4%), reflecting the safety of transport-category certification standards.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Beechcraft and Mooney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having fewer total accidents, have significantly higher Fatality Rates (~29.5% and ~28.2% respectively).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77D56554-C2F8-CBB0-888B-4D10D069B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536" y="1670277"/>
            <a:ext cx="5747608" cy="341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3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92D5-1C05-18D0-8275-82837162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Steps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C9189E-F85F-22CA-F7DC-282FAE260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0855" y="2126831"/>
            <a:ext cx="928962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financial cost-benefit analysis for the recommended aircraft models (Acquisition Cost vs. Insurance/Maintenance).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Implementation: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"Safety Management System" (SMS) framework based on the identified risk factors (e.g., strict weather minimums).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Pilot Training: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Tailor training programs to address the specific high-risk flight phases identified in the data.</a:t>
            </a:r>
          </a:p>
        </p:txBody>
      </p:sp>
    </p:spTree>
    <p:extLst>
      <p:ext uri="{BB962C8B-B14F-4D97-AF65-F5344CB8AC3E}">
        <p14:creationId xmlns:p14="http://schemas.microsoft.com/office/powerpoint/2010/main" val="364252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D42E-CA1F-0F65-7E83-C5642BCE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D05CD-1DC3-44BC-9FC2-E9F00592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Name – Daniel Owuor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158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605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</vt:lpstr>
      <vt:lpstr>Aviation Risk Analysis &amp; Recommendations</vt:lpstr>
      <vt:lpstr>Beginning</vt:lpstr>
      <vt:lpstr>Business Understanding</vt:lpstr>
      <vt:lpstr>Data Understanding</vt:lpstr>
      <vt:lpstr>Data Analysis - Risk Factors</vt:lpstr>
      <vt:lpstr>Manufacturer &amp; Modernization Trends</vt:lpstr>
      <vt:lpstr>Recommendations</vt:lpstr>
      <vt:lpstr>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</dc:creator>
  <cp:lastModifiedBy>DANIEL O</cp:lastModifiedBy>
  <cp:revision>1</cp:revision>
  <dcterms:created xsi:type="dcterms:W3CDTF">2025-12-16T00:26:05Z</dcterms:created>
  <dcterms:modified xsi:type="dcterms:W3CDTF">2025-12-16T07:22:22Z</dcterms:modified>
</cp:coreProperties>
</file>